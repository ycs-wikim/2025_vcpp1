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8DF0D-260D-48E1-A4E7-025E0725F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07F4F6-34B4-4DBE-9514-E1AEAE79A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4B308-088C-44B0-930B-771369FD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48C42-4B25-46B6-8AF0-B3BF18FF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B3A04-7081-4AFE-9C75-4617C076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45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1BF65-89B2-47B7-BB76-92A4AC0D1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DBAECA-F56C-445C-A01A-AAFA8E7A0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356463-1670-4AB9-ACF8-1D1700D6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A60E1-B8D3-4A09-B35F-ABA195F6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5446A-82C0-478F-908A-826A7368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29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23DF5-C32E-45BF-9037-9D8F66A2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0A67B4-2E82-4306-9AEA-CCEDC024F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993065-478F-488F-871B-0DE4C5E9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461087-3C8F-4525-B98E-569C6101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0628D1-E0AD-42AD-8BE0-098A8FAE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14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0A1FE-9991-463D-9CBF-DE5944EEA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BC8B5C-765F-4E55-84D7-D80992A32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047DF0-01F6-4EC0-917E-F6BA77EE3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8A5BA6-D3B3-43F2-AB5F-D9C7BD809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807433-2080-40DC-A7B3-9CC1E143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17E710-09FA-4029-B86F-B676705A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92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E6E29-C91A-4DC5-A03E-BAF08EFF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E48FDD-AE01-4A76-9875-D1E168150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83E751-5EEF-493B-BA73-65AF13AAC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5B2446-C089-4CA1-A6AD-F516981B9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8616DC-89E8-46A4-A810-26467D8A3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CCD6CD-0C35-416B-8C93-7361DCBC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701F1-D23D-4BA7-93B7-975A0847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021ABC-19CE-43D4-BC3F-F96E9520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603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C63EF-1EBC-4514-BEFE-77C8BF86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6047F8-776D-4487-9BAE-3B1D469A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DB6D1-628A-47BF-9D3A-977CD26B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71BDD-5EDB-4884-94FC-657D6773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72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DE759D-552C-444E-A49D-6BEB4066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A1763F-0816-4483-86AE-626E37F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B72F4-41E5-4ED2-9896-7ABFCB00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45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6BB15-2F54-4C3F-959C-563928AD1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A8AF5-ED3B-419F-A531-397069A89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24C376-5B88-4023-86E4-25A969027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B6FB38-8563-4388-97EB-09FD6F16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697E1-A928-471B-B134-014CBC7B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80BFC9-CAF8-42F3-B922-2C1355ED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07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3350C-EF37-40CC-BF71-A88E837B7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E20032-177E-4E2F-98D2-77923012E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B9DE90-1876-48EE-A118-67CB9DBE9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6F836-1C42-41EE-A722-F294615B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D7A7D2-55FF-45F5-A56F-ED787BA8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E3F845-677F-4474-9A41-1E63F53D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73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1EA1B-976B-4565-ADB4-4E91E6F6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E91325-C67C-4D4D-A09B-5471FE8E0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A452-9C7D-4F39-A109-A38848AF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AFAD6E-3CC4-458C-AC34-F91A8936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37CEC-7312-4656-BC8C-E2A51C4A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49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D76FE3-C2A7-4F1F-87DC-41C1FE47B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A6CE6-2B83-498C-B6F2-56EEA98C7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B45A2C-5CFE-49E0-B0FD-E3059045B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449D34-6B0F-4C0C-AEB3-F0AC9B88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7B4369-109B-4D56-8289-B0C04451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43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C5C12F-BDED-45F5-BA8E-0ED771ED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880E04-E6DA-4F40-9F48-1FEB9EBE0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9A23D-4774-4B2D-93C6-2157A8ED8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AB00F-8388-4761-B41F-B94896C0604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7DC210-B651-4337-B84F-BAA0E0ABD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23808E-9271-44F1-98BA-B1F56B4BD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19236-9100-42F9-B8FA-3E4D83EAF9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72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6F5B1-5332-415A-98A7-367805920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1104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1B601B-6D2F-4ECC-A81D-84DCF928BA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90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286FF-6E4B-4AEB-9A95-18176BB6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동시 작업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00267-2073-43CF-9975-187BE75C8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스레드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한 프로그램 내부에 다수의 흐름을 만들고 제어하는 기법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멀티 프로그래밍</a:t>
            </a:r>
            <a:r>
              <a:rPr lang="en-US" altLang="ko-KR" dirty="0"/>
              <a:t>(</a:t>
            </a:r>
            <a:r>
              <a:rPr lang="ko-KR" altLang="en-US" dirty="0"/>
              <a:t>실제로 구현 불가</a:t>
            </a:r>
            <a:r>
              <a:rPr lang="en-US" altLang="ko-KR" dirty="0"/>
              <a:t>) Vs.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멀티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태스킹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기술적인 뒷받침 </a:t>
            </a:r>
            <a:r>
              <a:rPr lang="en-US" altLang="ko-KR" dirty="0"/>
              <a:t>: </a:t>
            </a:r>
            <a:r>
              <a:rPr lang="ko-KR" altLang="en-US" dirty="0"/>
              <a:t>시분할 시스템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스케줄러 변화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더 이상 연구</a:t>
            </a:r>
            <a:r>
              <a:rPr lang="en-US" altLang="ko-KR" dirty="0">
                <a:sym typeface="Wingdings" panose="05000000000000000000" pitchFamily="2" charset="2"/>
              </a:rPr>
              <a:t>X)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부가적인 처리 </a:t>
            </a:r>
            <a:r>
              <a:rPr lang="en-US" altLang="ko-KR" dirty="0">
                <a:sym typeface="Wingdings" panose="05000000000000000000" pitchFamily="2" charset="2"/>
              </a:rPr>
              <a:t>: Context Switching(</a:t>
            </a:r>
            <a:r>
              <a:rPr lang="ko-KR" altLang="en-US" dirty="0">
                <a:sym typeface="Wingdings" panose="05000000000000000000" pitchFamily="2" charset="2"/>
              </a:rPr>
              <a:t>문맥 교환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기준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프로세스 기준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동기화 문제 발생</a:t>
            </a:r>
            <a:r>
              <a:rPr lang="en-US" altLang="ko-KR" dirty="0">
                <a:sym typeface="Wingdings" panose="05000000000000000000" pitchFamily="2" charset="2"/>
              </a:rPr>
              <a:t>!!!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공유 자원의 문제점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939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A3842-6896-41F1-AF5B-DAEA946C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동기화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29F23-1012-4E9E-9CDE-73BD1B3B2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공유 자원</a:t>
            </a:r>
            <a:endParaRPr lang="en-US" altLang="ko-KR" dirty="0"/>
          </a:p>
          <a:p>
            <a:pPr lvl="1"/>
            <a:r>
              <a:rPr lang="en-US" altLang="ko-KR" dirty="0"/>
              <a:t> H/W</a:t>
            </a:r>
            <a:r>
              <a:rPr lang="ko-KR" altLang="en-US" dirty="0"/>
              <a:t>와 </a:t>
            </a:r>
            <a:r>
              <a:rPr lang="en-US" altLang="ko-KR" dirty="0"/>
              <a:t>S/W</a:t>
            </a:r>
            <a:r>
              <a:rPr lang="ko-KR" altLang="en-US" dirty="0"/>
              <a:t>를 포함한 컴퓨터 내부의 모든 자원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프로세스나 스레드가 동시에 접근할 때 발생하는 문제 </a:t>
            </a:r>
            <a:r>
              <a:rPr lang="en-US" altLang="ko-KR" dirty="0"/>
              <a:t>: </a:t>
            </a:r>
            <a:r>
              <a:rPr lang="ko-KR" altLang="en-US" dirty="0"/>
              <a:t>동기화 문제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최초로 인식한 문제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은행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문제가 발생할 수 있는 코드 영역</a:t>
            </a:r>
            <a:r>
              <a:rPr lang="en-US" altLang="ko-KR" dirty="0"/>
              <a:t>(</a:t>
            </a:r>
            <a:r>
              <a:rPr lang="ko-KR" altLang="en-US" dirty="0"/>
              <a:t>공유 자원 접근 코드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임계영역</a:t>
            </a:r>
            <a:r>
              <a:rPr lang="en-US" altLang="ko-KR" dirty="0"/>
              <a:t>(Critical Section)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문제가 되는 영역에 여러 프로세스가 접근하는 상태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경쟁 상태</a:t>
            </a:r>
            <a:r>
              <a:rPr lang="en-US" altLang="ko-KR" dirty="0"/>
              <a:t>(Race Condition)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411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19C88-0ACF-432D-9B59-80FAEDC7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동기화</a:t>
            </a:r>
            <a:r>
              <a:rPr lang="en-US" altLang="ko-KR" dirty="0"/>
              <a:t> </a:t>
            </a:r>
            <a:r>
              <a:rPr lang="ko-KR" altLang="en-US" dirty="0"/>
              <a:t>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AEDC3A-33EF-4DC4-B3A1-CBA71318B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2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문제 해결</a:t>
            </a:r>
            <a:endParaRPr lang="en-US" altLang="ko-KR" dirty="0"/>
          </a:p>
          <a:p>
            <a:pPr lvl="1"/>
            <a:r>
              <a:rPr lang="en-US" altLang="ko-KR" dirty="0"/>
              <a:t> S/W </a:t>
            </a:r>
            <a:r>
              <a:rPr lang="ko-KR" altLang="en-US" dirty="0"/>
              <a:t>적인 해결 </a:t>
            </a:r>
            <a:r>
              <a:rPr lang="en-US" altLang="ko-KR" dirty="0"/>
              <a:t>: </a:t>
            </a:r>
            <a:r>
              <a:rPr lang="ko-KR" altLang="en-US" dirty="0" err="1"/>
              <a:t>데커</a:t>
            </a:r>
            <a:r>
              <a:rPr lang="ko-KR" altLang="en-US" dirty="0"/>
              <a:t> 알고리즘</a:t>
            </a:r>
            <a:endParaRPr lang="en-US" altLang="ko-KR" dirty="0"/>
          </a:p>
          <a:p>
            <a:pPr lvl="1"/>
            <a:r>
              <a:rPr lang="en-US" altLang="ko-KR" dirty="0"/>
              <a:t> H/W </a:t>
            </a:r>
            <a:r>
              <a:rPr lang="ko-KR" altLang="en-US" dirty="0"/>
              <a:t>적인 해결 </a:t>
            </a:r>
            <a:r>
              <a:rPr lang="en-US" altLang="ko-KR" dirty="0"/>
              <a:t>: Test &amp; Set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C568F7F-DE01-4882-BC20-3F60F518E3D2}"/>
              </a:ext>
            </a:extLst>
          </p:cNvPr>
          <p:cNvGrpSpPr/>
          <p:nvPr/>
        </p:nvGrpSpPr>
        <p:grpSpPr>
          <a:xfrm>
            <a:off x="4453467" y="3286124"/>
            <a:ext cx="3182410" cy="3444876"/>
            <a:chOff x="4453466" y="2929467"/>
            <a:chExt cx="3539067" cy="353906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04A100B-A6AD-4D7C-A11F-8C79BCE89919}"/>
                </a:ext>
              </a:extLst>
            </p:cNvPr>
            <p:cNvSpPr/>
            <p:nvPr/>
          </p:nvSpPr>
          <p:spPr>
            <a:xfrm>
              <a:off x="4453466" y="2929467"/>
              <a:ext cx="3539067" cy="35390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프로그램의 코드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ko-KR" altLang="en-US" dirty="0"/>
                <a:t>임계영역 시작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ko-KR" altLang="en-US" dirty="0"/>
                <a:t>임계영역 종료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180C525-9F17-4ACE-90F6-7605EDEF7A3F}"/>
                </a:ext>
              </a:extLst>
            </p:cNvPr>
            <p:cNvSpPr/>
            <p:nvPr/>
          </p:nvSpPr>
          <p:spPr>
            <a:xfrm>
              <a:off x="4453467" y="5105400"/>
              <a:ext cx="3539066" cy="27093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공유 자원에 대한 접근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908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6D30E-D647-4163-AA3C-AAF6B79D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</a:t>
            </a:r>
            <a:r>
              <a:rPr lang="ko-KR" altLang="en-US" dirty="0"/>
              <a:t>에 의한 해결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E4E8DD-E805-4C3E-887D-857705564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P( ), V( ) </a:t>
            </a:r>
            <a:r>
              <a:rPr lang="ko-KR" altLang="en-US" dirty="0"/>
              <a:t>오퍼레이션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b="1" dirty="0">
                <a:sym typeface="Wingdings" panose="05000000000000000000" pitchFamily="2" charset="2"/>
              </a:rPr>
              <a:t>Semaphore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논리적인 개념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 </a:t>
            </a:r>
            <a:r>
              <a:rPr lang="ko-KR" altLang="en-US" dirty="0"/>
              <a:t>해결 방법들의 궁극적인 목표 </a:t>
            </a:r>
            <a:r>
              <a:rPr lang="en-US" altLang="ko-KR" dirty="0"/>
              <a:t>: </a:t>
            </a:r>
            <a:r>
              <a:rPr lang="ko-KR" altLang="en-US" dirty="0"/>
              <a:t>상호 배제</a:t>
            </a:r>
            <a:endParaRPr lang="en-US" altLang="ko-KR" dirty="0"/>
          </a:p>
          <a:p>
            <a:pPr lvl="1"/>
            <a:r>
              <a:rPr lang="en-US" altLang="ko-KR" dirty="0"/>
              <a:t> SW</a:t>
            </a:r>
            <a:r>
              <a:rPr lang="ko-KR" altLang="en-US" dirty="0"/>
              <a:t> 적인 해결 방법으로는 한계가 발생 </a:t>
            </a:r>
            <a:r>
              <a:rPr lang="en-US" altLang="ko-KR" dirty="0"/>
              <a:t>: </a:t>
            </a:r>
            <a:r>
              <a:rPr lang="ko-KR" altLang="en-US" dirty="0"/>
              <a:t>문맥 교환</a:t>
            </a:r>
            <a:endParaRPr lang="en-US" altLang="ko-KR" dirty="0"/>
          </a:p>
          <a:p>
            <a:pPr lvl="1"/>
            <a:r>
              <a:rPr lang="en-US" altLang="ko-KR" dirty="0"/>
              <a:t> HW </a:t>
            </a:r>
            <a:r>
              <a:rPr lang="ko-KR" altLang="en-US" dirty="0"/>
              <a:t>적인 해결 방법도 존재하지 않음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결론적으로 </a:t>
            </a:r>
            <a:r>
              <a:rPr lang="en-US" altLang="ko-KR" dirty="0"/>
              <a:t>OS</a:t>
            </a:r>
            <a:r>
              <a:rPr lang="ko-KR" altLang="en-US" dirty="0"/>
              <a:t>가 해결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윈도우 시스템에서는 </a:t>
            </a:r>
            <a:r>
              <a:rPr lang="en-US" altLang="ko-KR" dirty="0"/>
              <a:t>3</a:t>
            </a:r>
            <a:r>
              <a:rPr lang="ko-KR" altLang="en-US" dirty="0"/>
              <a:t>가지 동기화 방법을 제공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	1. </a:t>
            </a:r>
            <a:r>
              <a:rPr lang="en-US" altLang="ko-KR" dirty="0" err="1"/>
              <a:t>Critial</a:t>
            </a:r>
            <a:r>
              <a:rPr lang="en-US" altLang="ko-KR" dirty="0"/>
              <a:t> Section(</a:t>
            </a:r>
            <a:r>
              <a:rPr lang="ko-KR" altLang="en-US" dirty="0"/>
              <a:t>임계 영역 이라는 방법론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 	2. Semaphore</a:t>
            </a:r>
          </a:p>
          <a:p>
            <a:pPr marL="457200" lvl="1" indent="0">
              <a:buNone/>
            </a:pPr>
            <a:r>
              <a:rPr lang="en-US" altLang="ko-KR" dirty="0"/>
              <a:t>	3. Mutex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121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BE0EB-F89F-4CF4-9E5B-A4C999D2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Critical Section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76907A-1645-4E03-872B-A2E77469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910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윈도우에서</a:t>
            </a:r>
            <a:r>
              <a:rPr lang="en-US" altLang="ko-KR" dirty="0"/>
              <a:t> </a:t>
            </a:r>
            <a:r>
              <a:rPr lang="ko-KR" altLang="en-US" dirty="0"/>
              <a:t>동기화를 제어하는 첫 번째 방법론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CRITICAL_SECTION</a:t>
            </a:r>
          </a:p>
          <a:p>
            <a:r>
              <a:rPr lang="en-US" altLang="ko-KR" dirty="0"/>
              <a:t> API</a:t>
            </a:r>
            <a:r>
              <a:rPr lang="ko-KR" altLang="en-US" dirty="0"/>
              <a:t>는 </a:t>
            </a:r>
            <a:r>
              <a:rPr lang="en-US" altLang="ko-KR" dirty="0"/>
              <a:t>4</a:t>
            </a:r>
            <a:r>
              <a:rPr lang="ko-KR" altLang="en-US" dirty="0"/>
              <a:t>개가 존재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InitializeCriticalSection</a:t>
            </a:r>
            <a:r>
              <a:rPr lang="en-US" altLang="ko-KR" dirty="0"/>
              <a:t>( ) : OS</a:t>
            </a:r>
            <a:r>
              <a:rPr lang="ko-KR" altLang="en-US" dirty="0"/>
              <a:t>에게 초기화를 요청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초기화는 더 이상 사용하지 </a:t>
            </a:r>
            <a:r>
              <a:rPr lang="ko-KR" altLang="en-US" dirty="0" err="1"/>
              <a:t>않을때까지</a:t>
            </a:r>
            <a:r>
              <a:rPr lang="ko-KR" altLang="en-US" dirty="0"/>
              <a:t> 유지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EnterCriticalSection</a:t>
            </a:r>
            <a:r>
              <a:rPr lang="en-US" altLang="ko-KR" dirty="0"/>
              <a:t>( ) : </a:t>
            </a:r>
            <a:r>
              <a:rPr lang="ko-KR" altLang="en-US" dirty="0"/>
              <a:t>임계 영역 진입 시점의 제어 </a:t>
            </a:r>
            <a:r>
              <a:rPr lang="en-US" altLang="ko-KR" dirty="0">
                <a:sym typeface="Wingdings" panose="05000000000000000000" pitchFamily="2" charset="2"/>
              </a:rPr>
              <a:t> P( )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공유 자원에 대해 한없이 자유롭게 접근 및 사용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LeaveCriticalSection</a:t>
            </a:r>
            <a:r>
              <a:rPr lang="en-US" altLang="ko-KR" dirty="0"/>
              <a:t>( ) : </a:t>
            </a:r>
            <a:r>
              <a:rPr lang="ko-KR" altLang="en-US" dirty="0"/>
              <a:t>임계 영역 해제 시점의 제어 </a:t>
            </a:r>
            <a:r>
              <a:rPr lang="en-US" altLang="ko-KR" dirty="0">
                <a:sym typeface="Wingdings" panose="05000000000000000000" pitchFamily="2" charset="2"/>
              </a:rPr>
              <a:t> V( )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공유 자원을 다른 스레드나 흐름이 사용할 수 있도록 </a:t>
            </a:r>
            <a:r>
              <a:rPr lang="ko-KR" altLang="en-US" dirty="0" err="1"/>
              <a:t>제어권</a:t>
            </a:r>
            <a:r>
              <a:rPr lang="ko-KR" altLang="en-US" dirty="0"/>
              <a:t> 해제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DeleteCriticalSection</a:t>
            </a:r>
            <a:r>
              <a:rPr lang="en-US" altLang="ko-KR" dirty="0"/>
              <a:t>( ) : </a:t>
            </a:r>
            <a:r>
              <a:rPr lang="ko-KR" altLang="en-US" dirty="0"/>
              <a:t>자료형 해제 요청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객체가 </a:t>
            </a:r>
            <a:r>
              <a:rPr lang="en-US" altLang="ko-KR" dirty="0"/>
              <a:t>OS</a:t>
            </a:r>
            <a:r>
              <a:rPr lang="ko-KR" altLang="en-US" dirty="0"/>
              <a:t>에서 완전히 해제가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67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347</Words>
  <Application>Microsoft Office PowerPoint</Application>
  <PresentationFormat>와이드스크린</PresentationFormat>
  <Paragraphs>56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1104</vt:lpstr>
      <vt:lpstr>동시 작업 흐름</vt:lpstr>
      <vt:lpstr>동기화 문제</vt:lpstr>
      <vt:lpstr>동기화 문제</vt:lpstr>
      <vt:lpstr>OS에 의한 해결</vt:lpstr>
      <vt:lpstr>Critical Section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1104</dc:title>
  <dc:creator>YUHAN</dc:creator>
  <cp:lastModifiedBy>YUHAN</cp:lastModifiedBy>
  <cp:revision>7</cp:revision>
  <dcterms:created xsi:type="dcterms:W3CDTF">2025-11-04T00:08:10Z</dcterms:created>
  <dcterms:modified xsi:type="dcterms:W3CDTF">2025-11-04T04:00:00Z</dcterms:modified>
</cp:coreProperties>
</file>