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8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AF94A-74C8-4214-8F73-686471D47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1DDC2D-4395-4B9D-BD5E-0F086C835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636F9F-4AB8-4D71-94B5-1508A272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B2DAC2-5C26-45B9-A48C-AE2E49F32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CA2EAB-5FEE-4A2C-B3BC-75CC852F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18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62B7C-F684-4F85-8B8C-037156ED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68B00-E421-4613-9B41-E77CF889A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91AC75-29AB-44DD-B2D5-9474CE748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6CE3E9-33D2-4588-90F8-E7080712B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083BD-DE89-4112-9801-A882EBA2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92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AEB8A-D5D9-4D0C-B927-BDCD63D8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835C80-8398-487D-A09A-7F195887E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0C0B0F-47BB-4D28-A3C1-38CBD5AE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9FF01-CEF4-4AAC-B78A-365DF85F8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24966E-C56A-4E8F-B4AB-9C622CD0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49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29D42-C89D-44FE-B392-359C7D8E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0BE0AB-A96B-443D-8F3A-991FBECBB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5B6D0A-4332-4846-8C04-1055DEAF8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46807E-4D1C-4D8A-A6FB-CAC179247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3158B1-2A65-4408-AD6B-DBFF18D2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FC2738-79DE-499B-A15E-060A4DB2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762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905C8-210F-4C35-BE2E-7DC834263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4A83DE-D70B-49D3-B938-907907038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825D9D-DA80-40DB-B453-06F40FE67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3E184B-7253-48A2-904C-F2A057AFB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872073-FD2F-4AF2-8588-62FF35147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7CF6BB-37E3-41BA-8FDD-6E373536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029F38-0B82-4AE5-8519-1E4B4D44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7715DE-F58C-4D52-B2C9-510FDD09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41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2E1F9-A96D-4571-A9F8-AF08D225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A66BE0-13A8-4FC7-90C4-CFF66E2E6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D0E232-5978-4319-B1BE-6823A243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A9F463-095D-404A-A788-DA2FC3B0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EFC618A-E9E8-4A1D-BBE7-811782EB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27359C-4D37-4758-8916-27387A90E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307BA-F246-4297-9F51-2D476929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90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F0D86-B874-428B-A2CE-05021C71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660EDB-E39F-42EE-8EB9-EF96C2E5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FF2C21-BE61-4CFC-8CD4-5B2C7E2AB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5D872-D2BF-40E8-8FCE-27F627D92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86EB61-1656-448C-B061-CFE201716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604B5F-5EC0-49D9-8FB7-2D6092FF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81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574FE-ABAE-4BF5-AD96-6BBC5906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437B108-F5C0-4304-ABCB-4F5542588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344E7F-4D8A-47DB-A5C3-246E5B784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DA2675-F4C3-474A-9799-EF93A98D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18F20-9004-4F60-A27C-2AA00EA49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03225D-9CF1-4B4C-81FD-2A0B5E1F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5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7150CD-21D3-4B39-9CA0-6A19BBFB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213A4-EA1C-4DAE-94AA-7266F986C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A767CD-F978-4B0E-8AD5-F45374535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98CF5-C9B7-4F52-8649-9917501D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A5E4BC-378D-44D7-9F92-1D460201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00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595661-B715-41C6-A163-F465FDDD7C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CDD75B-ACE9-4316-A121-99F998528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2EC61-199F-451D-8649-8FC9F7FD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C97AF6-49F9-4732-8DB6-BC16B17DC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317E51-5CFB-4BF2-9D23-C7E41877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450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9F8C55-7D7C-4640-9AC5-53DCD7045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1DCFAD-2CB6-4808-86D4-F98B5E30E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BDD257-E5F0-4D8D-8A3B-6C6C02AB8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BF659-BAA0-48EA-8C4F-ECE76397FF3E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3C4B3E-7C81-47D5-ABA8-F4247BC81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5D593A-562E-4B7C-B098-84282BF1E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5ACBD-65F0-4E83-932B-C04411EF3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339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DCF37-E3B3-45F6-8648-2F257DF7D1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1111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F764E3-9DFC-4F94-BF0C-7D79BE60A1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43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FBFB6-3773-40EB-B1CC-DFF336D8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동기화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B1EB51-A8E3-4AC4-8027-F158F7424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동기화 문제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공유 자원에 대한 접근이 문제 </a:t>
            </a:r>
            <a:r>
              <a:rPr lang="en-US" altLang="ko-KR" dirty="0"/>
              <a:t>– </a:t>
            </a:r>
            <a:r>
              <a:rPr lang="ko-KR" altLang="en-US" dirty="0"/>
              <a:t>개념</a:t>
            </a:r>
            <a:r>
              <a:rPr lang="en-US" altLang="ko-KR" dirty="0"/>
              <a:t>, </a:t>
            </a:r>
            <a:r>
              <a:rPr lang="ko-KR" altLang="en-US" dirty="0"/>
              <a:t>논리</a:t>
            </a:r>
            <a:r>
              <a:rPr lang="en-US" altLang="ko-KR" dirty="0"/>
              <a:t>, </a:t>
            </a:r>
            <a:r>
              <a:rPr lang="ko-KR" altLang="en-US" dirty="0"/>
              <a:t>용어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해결 방법 </a:t>
            </a:r>
            <a:r>
              <a:rPr lang="en-US" altLang="ko-KR" dirty="0"/>
              <a:t>– OS</a:t>
            </a:r>
            <a:r>
              <a:rPr lang="ko-KR" altLang="en-US" dirty="0"/>
              <a:t>에게 맡긴다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윈도우의 경우 </a:t>
            </a:r>
            <a:r>
              <a:rPr lang="en-US" altLang="ko-KR" dirty="0"/>
              <a:t>3</a:t>
            </a:r>
            <a:r>
              <a:rPr lang="ko-KR" altLang="en-US" dirty="0"/>
              <a:t>가지 방법으로 동기화 문제를 해결</a:t>
            </a:r>
            <a:endParaRPr lang="en-US" altLang="ko-KR" dirty="0"/>
          </a:p>
          <a:p>
            <a:pPr lvl="1"/>
            <a:r>
              <a:rPr lang="en-US" altLang="ko-KR" dirty="0"/>
              <a:t> 1. Critical Section (</a:t>
            </a:r>
            <a:r>
              <a:rPr lang="ko-KR" altLang="en-US" dirty="0"/>
              <a:t>임계 영역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2. Semaphore (</a:t>
            </a:r>
            <a:r>
              <a:rPr lang="ko-KR" altLang="en-US" dirty="0" err="1"/>
              <a:t>세마포어</a:t>
            </a:r>
            <a:r>
              <a:rPr lang="en-US" altLang="ko-KR" dirty="0"/>
              <a:t>) – </a:t>
            </a:r>
            <a:r>
              <a:rPr lang="ko-KR" altLang="en-US" dirty="0"/>
              <a:t>이론적으로 운영체제 수업에서 배움</a:t>
            </a:r>
            <a:r>
              <a:rPr lang="en-US" altLang="ko-KR" dirty="0"/>
              <a:t>!</a:t>
            </a:r>
          </a:p>
          <a:p>
            <a:pPr lvl="2"/>
            <a:r>
              <a:rPr lang="en-US" altLang="ko-KR" dirty="0"/>
              <a:t> P( ), V( ) </a:t>
            </a:r>
            <a:r>
              <a:rPr lang="ko-KR" altLang="en-US" dirty="0"/>
              <a:t>연산을 통해 동기화 문제를 해결하는 이론적인 방법</a:t>
            </a:r>
            <a:endParaRPr lang="en-US" altLang="ko-KR" dirty="0"/>
          </a:p>
          <a:p>
            <a:pPr lvl="1"/>
            <a:r>
              <a:rPr lang="en-US" altLang="ko-KR" dirty="0"/>
              <a:t> 3. Mutex (</a:t>
            </a:r>
            <a:r>
              <a:rPr lang="ko-KR" altLang="en-US" dirty="0" err="1"/>
              <a:t>뮤텍스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정리</a:t>
            </a:r>
          </a:p>
        </p:txBody>
      </p:sp>
    </p:spTree>
    <p:extLst>
      <p:ext uri="{BB962C8B-B14F-4D97-AF65-F5344CB8AC3E}">
        <p14:creationId xmlns:p14="http://schemas.microsoft.com/office/powerpoint/2010/main" val="4096168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E5E1C-EDD7-4475-BE8F-0CBAA1D7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720F6E-1C73-4BD6-80B4-0D5890CCE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자원의 개수가 존재하고</a:t>
            </a:r>
            <a:r>
              <a:rPr lang="en-US" altLang="ko-KR" dirty="0"/>
              <a:t>, </a:t>
            </a:r>
            <a:r>
              <a:rPr lang="ko-KR" altLang="en-US" dirty="0"/>
              <a:t>이를 제어하는 방법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자원을 통해 작업할 수 있도록 만들어 준다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공유 자원에 대한 처리를 하는 성격이 아님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자료형 </a:t>
            </a:r>
            <a:r>
              <a:rPr lang="en-US" altLang="ko-KR" dirty="0"/>
              <a:t>: HANDLE (LPVIOD, void*)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사용 </a:t>
            </a:r>
            <a:r>
              <a:rPr lang="en-US" altLang="ko-KR" dirty="0"/>
              <a:t>API 4</a:t>
            </a:r>
            <a:r>
              <a:rPr lang="ko-KR" altLang="en-US" dirty="0"/>
              <a:t>가지 </a:t>
            </a:r>
            <a:r>
              <a:rPr lang="en-US" altLang="ko-KR" dirty="0"/>
              <a:t>(+a)</a:t>
            </a:r>
          </a:p>
          <a:p>
            <a:pPr lvl="1"/>
            <a:r>
              <a:rPr lang="en-US" altLang="ko-KR" dirty="0"/>
              <a:t> 1. </a:t>
            </a:r>
            <a:r>
              <a:rPr lang="ko-KR" altLang="en-US" dirty="0"/>
              <a:t>생성 </a:t>
            </a:r>
            <a:r>
              <a:rPr lang="en-US" altLang="ko-KR" dirty="0"/>
              <a:t>: </a:t>
            </a:r>
            <a:r>
              <a:rPr lang="en-US" altLang="ko-KR" dirty="0" err="1"/>
              <a:t>CreateSemaphore</a:t>
            </a:r>
            <a:r>
              <a:rPr lang="en-US" altLang="ko-KR" dirty="0"/>
              <a:t>( ) </a:t>
            </a:r>
          </a:p>
          <a:p>
            <a:pPr lvl="1"/>
            <a:r>
              <a:rPr lang="en-US" altLang="ko-KR" dirty="0"/>
              <a:t> 2. </a:t>
            </a:r>
            <a:r>
              <a:rPr lang="ko-KR" altLang="en-US" dirty="0"/>
              <a:t>자료형 해제 </a:t>
            </a:r>
            <a:r>
              <a:rPr lang="en-US" altLang="ko-KR" dirty="0"/>
              <a:t>: </a:t>
            </a:r>
            <a:r>
              <a:rPr lang="en-US" altLang="ko-KR" dirty="0" err="1"/>
              <a:t>CloseHandle</a:t>
            </a:r>
            <a:r>
              <a:rPr lang="en-US" altLang="ko-KR" dirty="0"/>
              <a:t>( )</a:t>
            </a:r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모든 </a:t>
            </a:r>
            <a:r>
              <a:rPr lang="en-US" altLang="ko-KR" dirty="0"/>
              <a:t>HANDLE </a:t>
            </a:r>
            <a:r>
              <a:rPr lang="ko-KR" altLang="en-US" dirty="0"/>
              <a:t>자료형의 해제 </a:t>
            </a:r>
            <a:r>
              <a:rPr lang="en-US" altLang="ko-KR" dirty="0"/>
              <a:t>API</a:t>
            </a:r>
          </a:p>
          <a:p>
            <a:pPr lvl="1"/>
            <a:r>
              <a:rPr lang="en-US" altLang="ko-KR" dirty="0"/>
              <a:t> 3. </a:t>
            </a:r>
            <a:r>
              <a:rPr lang="ko-KR" altLang="en-US" dirty="0"/>
              <a:t>진입</a:t>
            </a:r>
            <a:r>
              <a:rPr lang="en-US" altLang="ko-KR" dirty="0"/>
              <a:t>/</a:t>
            </a:r>
            <a:r>
              <a:rPr lang="ko-KR" altLang="en-US" dirty="0"/>
              <a:t>대기 </a:t>
            </a:r>
            <a:r>
              <a:rPr lang="en-US" altLang="ko-KR" dirty="0"/>
              <a:t>: </a:t>
            </a:r>
            <a:r>
              <a:rPr lang="en-US" altLang="ko-KR" dirty="0" err="1"/>
              <a:t>WaitForSingleObject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4. </a:t>
            </a:r>
            <a:r>
              <a:rPr lang="ko-KR" altLang="en-US" dirty="0"/>
              <a:t>임계 영역 해제 </a:t>
            </a:r>
            <a:r>
              <a:rPr lang="en-US" altLang="ko-KR" dirty="0"/>
              <a:t>: </a:t>
            </a:r>
            <a:r>
              <a:rPr lang="en-US" altLang="ko-KR" dirty="0" err="1"/>
              <a:t>ReleaseSemaphore</a:t>
            </a:r>
            <a:r>
              <a:rPr lang="en-US" altLang="ko-KR" dirty="0"/>
              <a:t>( 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0902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BAA30-F447-4C5C-AD08-A36C39A7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Mutex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669609-4D94-4837-B1A2-06E7EFBF5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자원의 개수가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이름 등록을 </a:t>
            </a:r>
            <a:r>
              <a:rPr lang="en-US" altLang="ko-KR" dirty="0"/>
              <a:t>OS</a:t>
            </a:r>
            <a:r>
              <a:rPr lang="ko-KR" altLang="en-US" dirty="0"/>
              <a:t>에 할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등록된 이름을 통해 단일 프로세스 실행 환경을 만들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자료형 </a:t>
            </a:r>
            <a:r>
              <a:rPr lang="en-US" altLang="ko-KR" dirty="0"/>
              <a:t>: HANDLE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사용 </a:t>
            </a:r>
            <a:r>
              <a:rPr lang="en-US" altLang="ko-KR" dirty="0"/>
              <a:t>API 4</a:t>
            </a:r>
            <a:r>
              <a:rPr lang="ko-KR" altLang="en-US" dirty="0"/>
              <a:t>가지 </a:t>
            </a:r>
            <a:r>
              <a:rPr lang="en-US" altLang="ko-KR" dirty="0"/>
              <a:t>(+a)</a:t>
            </a:r>
          </a:p>
          <a:p>
            <a:pPr lvl="1"/>
            <a:r>
              <a:rPr lang="en-US" altLang="ko-KR" dirty="0"/>
              <a:t> 1. </a:t>
            </a:r>
            <a:r>
              <a:rPr lang="ko-KR" altLang="en-US" dirty="0"/>
              <a:t>생성 </a:t>
            </a:r>
            <a:r>
              <a:rPr lang="en-US" altLang="ko-KR" dirty="0"/>
              <a:t>: </a:t>
            </a:r>
            <a:r>
              <a:rPr lang="en-US" altLang="ko-KR" dirty="0" err="1"/>
              <a:t>CreateMutex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2. </a:t>
            </a:r>
            <a:r>
              <a:rPr lang="ko-KR" altLang="en-US" dirty="0"/>
              <a:t>자원 해제 </a:t>
            </a:r>
            <a:r>
              <a:rPr lang="en-US" altLang="ko-KR" dirty="0"/>
              <a:t>: </a:t>
            </a:r>
            <a:r>
              <a:rPr lang="en-US" altLang="ko-KR" dirty="0" err="1"/>
              <a:t>CloseHandle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3. </a:t>
            </a:r>
            <a:r>
              <a:rPr lang="ko-KR" altLang="en-US" dirty="0"/>
              <a:t>진입</a:t>
            </a:r>
            <a:r>
              <a:rPr lang="en-US" altLang="ko-KR" dirty="0"/>
              <a:t>/</a:t>
            </a:r>
            <a:r>
              <a:rPr lang="ko-KR" altLang="en-US" dirty="0"/>
              <a:t>대기 </a:t>
            </a:r>
            <a:r>
              <a:rPr lang="en-US" altLang="ko-KR" dirty="0"/>
              <a:t>: </a:t>
            </a:r>
            <a:r>
              <a:rPr lang="en-US" altLang="ko-KR" dirty="0" err="1"/>
              <a:t>WaitForSingleObject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4. </a:t>
            </a:r>
            <a:r>
              <a:rPr lang="ko-KR" altLang="en-US" dirty="0"/>
              <a:t>임계 영역 해제 </a:t>
            </a:r>
            <a:r>
              <a:rPr lang="en-US" altLang="ko-KR" dirty="0"/>
              <a:t>: </a:t>
            </a:r>
            <a:r>
              <a:rPr lang="en-US" altLang="ko-KR" dirty="0" err="1"/>
              <a:t>ReleaseMutex</a:t>
            </a:r>
            <a:r>
              <a:rPr lang="en-US" altLang="ko-KR" dirty="0"/>
              <a:t>( )</a:t>
            </a:r>
          </a:p>
          <a:p>
            <a:pPr lvl="1"/>
            <a:r>
              <a:rPr lang="en-US" altLang="ko-KR" dirty="0"/>
              <a:t> 5. </a:t>
            </a:r>
            <a:r>
              <a:rPr lang="ko-KR" altLang="en-US" dirty="0"/>
              <a:t>이름 검색 </a:t>
            </a:r>
            <a:r>
              <a:rPr lang="en-US" altLang="ko-KR" dirty="0"/>
              <a:t>: </a:t>
            </a:r>
            <a:r>
              <a:rPr lang="en-US" altLang="ko-KR" dirty="0" err="1"/>
              <a:t>OpenMutex</a:t>
            </a:r>
            <a:r>
              <a:rPr lang="en-US" altLang="ko-KR" dirty="0"/>
              <a:t>( 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404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1E7FB-E1C2-4190-905E-F738641D2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동기화 방법론의 정리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E305A65-3441-4FEE-9FDD-BD3B12BBE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658813"/>
              </p:ext>
            </p:extLst>
          </p:nvPr>
        </p:nvGraphicFramePr>
        <p:xfrm>
          <a:off x="607646" y="1475803"/>
          <a:ext cx="11156464" cy="5215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023">
                  <a:extLst>
                    <a:ext uri="{9D8B030D-6E8A-4147-A177-3AD203B41FA5}">
                      <a16:colId xmlns:a16="http://schemas.microsoft.com/office/drawing/2014/main" val="3785479989"/>
                    </a:ext>
                  </a:extLst>
                </a:gridCol>
                <a:gridCol w="3293209">
                  <a:extLst>
                    <a:ext uri="{9D8B030D-6E8A-4147-A177-3AD203B41FA5}">
                      <a16:colId xmlns:a16="http://schemas.microsoft.com/office/drawing/2014/main" val="892088363"/>
                    </a:ext>
                  </a:extLst>
                </a:gridCol>
                <a:gridCol w="2789116">
                  <a:extLst>
                    <a:ext uri="{9D8B030D-6E8A-4147-A177-3AD203B41FA5}">
                      <a16:colId xmlns:a16="http://schemas.microsoft.com/office/drawing/2014/main" val="2498579772"/>
                    </a:ext>
                  </a:extLst>
                </a:gridCol>
                <a:gridCol w="2789116">
                  <a:extLst>
                    <a:ext uri="{9D8B030D-6E8A-4147-A177-3AD203B41FA5}">
                      <a16:colId xmlns:a16="http://schemas.microsoft.com/office/drawing/2014/main" val="2375463968"/>
                    </a:ext>
                  </a:extLst>
                </a:gridCol>
              </a:tblGrid>
              <a:tr h="57946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Critical Section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Semaphore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Mutex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21004"/>
                  </a:ext>
                </a:extLst>
              </a:tr>
              <a:tr h="579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자료형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SRITICAL_SECTION</a:t>
                      </a:r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HANDLE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63609"/>
                  </a:ext>
                </a:extLst>
              </a:tr>
              <a:tr h="579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InitializeCriticalSection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CreateSemaphore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CreateMutex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276440"/>
                  </a:ext>
                </a:extLst>
              </a:tr>
              <a:tr h="579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DeleteCriticalSection</a:t>
                      </a:r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CloseHandle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CloseHandle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613798"/>
                  </a:ext>
                </a:extLst>
              </a:tr>
              <a:tr h="579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임계영역 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EnterCriticalSection</a:t>
                      </a:r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WaitForSingleObject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WaitForSingleObject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450521"/>
                  </a:ext>
                </a:extLst>
              </a:tr>
              <a:tr h="579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임계영역 해제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LeaveCriticalSection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ReleaseSemaphore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ReleaseMutex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728509"/>
                  </a:ext>
                </a:extLst>
              </a:tr>
              <a:tr h="579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자원 개수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955751"/>
                  </a:ext>
                </a:extLst>
              </a:tr>
              <a:tr h="579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 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 (local area == process)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 (global area == OS)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251928"/>
                  </a:ext>
                </a:extLst>
              </a:tr>
              <a:tr h="579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소유자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085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312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307</Words>
  <Application>Microsoft Office PowerPoint</Application>
  <PresentationFormat>와이드스크린</PresentationFormat>
  <Paragraphs>65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1111</vt:lpstr>
      <vt:lpstr>동기화 문제</vt:lpstr>
      <vt:lpstr>Semaphore</vt:lpstr>
      <vt:lpstr>Mutex</vt:lpstr>
      <vt:lpstr>동기화 방법론의 정리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1111</dc:title>
  <dc:creator>YUHAN</dc:creator>
  <cp:lastModifiedBy>YUHAN</cp:lastModifiedBy>
  <cp:revision>7</cp:revision>
  <dcterms:created xsi:type="dcterms:W3CDTF">2025-11-11T00:11:53Z</dcterms:created>
  <dcterms:modified xsi:type="dcterms:W3CDTF">2025-11-11T02:44:16Z</dcterms:modified>
</cp:coreProperties>
</file>